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Heebo Light"/>
      <p:regular r:id="rId21"/>
    </p:embeddedFont>
    <p:embeddedFont>
      <p:font typeface="Heebo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822" y="830223"/>
            <a:ext cx="4770120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at a Glance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7822" y="1807845"/>
            <a:ext cx="2443758" cy="629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697111" y="2675811"/>
            <a:ext cx="2385060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Purchases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7822" y="3088243"/>
            <a:ext cx="2443758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Transactions analyzed across all categories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350062" y="1807845"/>
            <a:ext cx="2443758" cy="629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4950" dirty="0"/>
          </a:p>
        </p:txBody>
      </p:sp>
      <p:sp>
        <p:nvSpPr>
          <p:cNvPr id="8" name="Text 5"/>
          <p:cNvSpPr/>
          <p:nvPr/>
        </p:nvSpPr>
        <p:spPr>
          <a:xfrm>
            <a:off x="3379351" y="2675811"/>
            <a:ext cx="2385060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Points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350062" y="3088243"/>
            <a:ext cx="2443758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Features tracking demographics and behavior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2302" y="1807845"/>
            <a:ext cx="2443758" cy="629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$59.76</a:t>
            </a:r>
            <a:endParaRPr lang="en-US" sz="4950" dirty="0"/>
          </a:p>
        </p:txBody>
      </p:sp>
      <p:sp>
        <p:nvSpPr>
          <p:cNvPr id="11" name="Text 8"/>
          <p:cNvSpPr/>
          <p:nvPr/>
        </p:nvSpPr>
        <p:spPr>
          <a:xfrm>
            <a:off x="6061591" y="2675811"/>
            <a:ext cx="2385060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Purchase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032302" y="3088243"/>
            <a:ext cx="2443758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Mean transaction value per customer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50062" y="4175760"/>
            <a:ext cx="2443758" cy="629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3.75</a:t>
            </a:r>
            <a:endParaRPr lang="en-US" sz="4950" dirty="0"/>
          </a:p>
        </p:txBody>
      </p:sp>
      <p:sp>
        <p:nvSpPr>
          <p:cNvPr id="14" name="Text 11"/>
          <p:cNvSpPr/>
          <p:nvPr/>
        </p:nvSpPr>
        <p:spPr>
          <a:xfrm>
            <a:off x="3379351" y="5043726"/>
            <a:ext cx="2385060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Rating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3350062" y="5456158"/>
            <a:ext cx="2443758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 satisfaction score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7822" y="6166723"/>
            <a:ext cx="300966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Demographics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67822" y="6655475"/>
            <a:ext cx="3671411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Age, Gender, Location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822" y="7027426"/>
            <a:ext cx="3671411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Subscription Status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12387" y="6166723"/>
            <a:ext cx="2385060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Shopping Behavior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4812387" y="6655475"/>
            <a:ext cx="3671411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Purchase patterns &amp; frequency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12387" y="7027426"/>
            <a:ext cx="3671411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Discount &amp; promo usage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601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 Journey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3496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77803"/>
            <a:ext cx="38652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Imported dataset, checked structure and summary statistics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3203496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377803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Imputed 37 missing Review Ratings using category medians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203496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377803"/>
            <a:ext cx="29278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Created age groups and purchase frequency metrics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Consistency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Standardized columns, removed redundant promo code field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3001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Loaded cleaned data into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258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9096" y="2481739"/>
            <a:ext cx="30324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Revenue Gap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Male customers generate 2.1x more revenue than female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59096" y="3992761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 Opportunity: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Expand product lines and marketing to female demographics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634" y="543401"/>
            <a:ext cx="6121598" cy="61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Segmentation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91634" y="1556028"/>
            <a:ext cx="4283988" cy="1904643"/>
          </a:xfrm>
          <a:prstGeom prst="roundRect">
            <a:avLst>
              <a:gd name="adj" fmla="val 435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779" y="1761173"/>
            <a:ext cx="2470190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Customers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6779" y="2188369"/>
            <a:ext cx="387369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3,116 customers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779" y="2623066"/>
            <a:ext cx="3873698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Highest value segment with consistent purchases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173147" y="1556028"/>
            <a:ext cx="4283988" cy="1904643"/>
          </a:xfrm>
          <a:prstGeom prst="roundRect">
            <a:avLst>
              <a:gd name="adj" fmla="val 435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8291" y="1761173"/>
            <a:ext cx="2470190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Returning Buyers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8291" y="2188369"/>
            <a:ext cx="387369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701 customers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78291" y="2623066"/>
            <a:ext cx="387369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Growth opportunity for loyalty programs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54659" y="1556028"/>
            <a:ext cx="4283988" cy="1904643"/>
          </a:xfrm>
          <a:prstGeom prst="roundRect">
            <a:avLst>
              <a:gd name="adj" fmla="val 435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59804" y="1761173"/>
            <a:ext cx="2470190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Customers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859804" y="2188369"/>
            <a:ext cx="387369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83 customers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859804" y="2623066"/>
            <a:ext cx="387369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Focus on conversion and retention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01748" y="4967288"/>
            <a:ext cx="2430542" cy="49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38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48" y="3732252"/>
            <a:ext cx="2964180" cy="29641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81983" y="6943249"/>
            <a:ext cx="2470190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Base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91634" y="7370445"/>
            <a:ext cx="4251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Customers with strong purchase history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099691" y="4967288"/>
            <a:ext cx="2430542" cy="49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18%</a:t>
            </a:r>
            <a:endParaRPr lang="en-US" sz="38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91" y="3732252"/>
            <a:ext cx="2964180" cy="29641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80046" y="6943249"/>
            <a:ext cx="2470190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Returning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5189577" y="7370445"/>
            <a:ext cx="4251127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Mid-tier engagement level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10597753" y="4967288"/>
            <a:ext cx="2430542" cy="49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2%</a:t>
            </a:r>
            <a:endParaRPr lang="en-US" sz="38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053" y="3732252"/>
            <a:ext cx="2964180" cy="29641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77989" y="6943249"/>
            <a:ext cx="2470190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9687639" y="7370445"/>
            <a:ext cx="4251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Recent acquisitions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70955"/>
            <a:ext cx="61471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246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Rated Products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282785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Gloves (3.86)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27005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Sandals (3.84)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371225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Boots (3.82)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415444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Hat (3.80)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45966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Skirt (3.78)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2246709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Purchased by Category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318218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Clothing: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Blouse, Pants, Shirt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362438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Accessories: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Jewelry, Sunglasses, Belt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442948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Footwear: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Sandals, Shoes, Sneakers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523458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Outerwear: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Jacket, Coat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280190" y="5931932"/>
            <a:ext cx="7556421" cy="1326713"/>
          </a:xfrm>
          <a:prstGeom prst="roundRect">
            <a:avLst>
              <a:gd name="adj" fmla="val 7181"/>
            </a:avLst>
          </a:prstGeom>
          <a:solidFill>
            <a:srgbClr val="1E0C41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6260783"/>
            <a:ext cx="283488" cy="22681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17306" y="6215420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Top-rated products show consistent quality across categories—leverage in marketing campaigns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5917"/>
            <a:ext cx="75158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Strategy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14857"/>
            <a:ext cx="3664744" cy="2448044"/>
          </a:xfrm>
          <a:prstGeom prst="roundRect">
            <a:avLst>
              <a:gd name="adj" fmla="val 5976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10" y="1714857"/>
            <a:ext cx="121920" cy="24480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1972151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High-Value Discount Users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42524" y="2816900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839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used discounts but spent above average ($60+)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348" y="1714857"/>
            <a:ext cx="3664863" cy="2448044"/>
          </a:xfrm>
          <a:prstGeom prst="roundRect">
            <a:avLst>
              <a:gd name="adj" fmla="val 5976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868" y="1714857"/>
            <a:ext cx="121920" cy="24480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34082" y="1972151"/>
            <a:ext cx="3058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034082" y="2816900"/>
            <a:ext cx="3058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Hat (50%), Sneakers (49.7%), Coat (49.1%) have highest discount rates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4389715"/>
            <a:ext cx="3664744" cy="3173849"/>
          </a:xfrm>
          <a:prstGeom prst="roundRect">
            <a:avLst>
              <a:gd name="adj" fmla="val 4610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389715"/>
            <a:ext cx="121920" cy="31738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2524" y="4647009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42524" y="5491758"/>
            <a:ext cx="30587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 promotional pricing with margin control—discounts drive volume without sacrificing quality buyers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98" y="379333"/>
            <a:ext cx="5629037" cy="4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&amp; Shipping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2798" y="1155263"/>
            <a:ext cx="1724620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Status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798" y="1526024"/>
            <a:ext cx="6664166" cy="35634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29483" y="5119926"/>
            <a:ext cx="137874" cy="137874"/>
          </a:xfrm>
          <a:prstGeom prst="roundRect">
            <a:avLst>
              <a:gd name="adj" fmla="val 13264"/>
            </a:avLst>
          </a:prstGeom>
          <a:solidFill>
            <a:srgbClr val="351575"/>
          </a:solidFill>
          <a:ln/>
        </p:spPr>
      </p:sp>
      <p:sp>
        <p:nvSpPr>
          <p:cNvPr id="6" name="Text 3"/>
          <p:cNvSpPr/>
          <p:nvPr/>
        </p:nvSpPr>
        <p:spPr>
          <a:xfrm>
            <a:off x="2728317" y="5119926"/>
            <a:ext cx="1010364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Non-Subscribers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891082" y="5119926"/>
            <a:ext cx="137874" cy="137874"/>
          </a:xfrm>
          <a:prstGeom prst="roundRect">
            <a:avLst>
              <a:gd name="adj" fmla="val 13264"/>
            </a:avLst>
          </a:prstGeom>
          <a:solidFill>
            <a:srgbClr val="8556E1"/>
          </a:solidFill>
          <a:ln/>
        </p:spPr>
      </p:sp>
      <p:sp>
        <p:nvSpPr>
          <p:cNvPr id="8" name="Text 5"/>
          <p:cNvSpPr/>
          <p:nvPr/>
        </p:nvSpPr>
        <p:spPr>
          <a:xfrm>
            <a:off x="4089916" y="5119926"/>
            <a:ext cx="719614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Subscribers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2798" y="5413058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27% subscription rate with similar avg spend ($59.49 vs $59.87)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1055" y="1155263"/>
            <a:ext cx="1852136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Shipping Preferences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1055" y="1508760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Express: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$60.48 avg purchase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1055" y="1853565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Standard: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$58.46 avg purchase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91055" y="2198370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Express users spend 3.5% more—premium service attracts higher-value customers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055" y="2574250"/>
            <a:ext cx="6664166" cy="66641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213" y="441722"/>
            <a:ext cx="6545699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Group Revenue Distribution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213" y="1264920"/>
            <a:ext cx="13505974" cy="7563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213" y="9008864"/>
            <a:ext cx="1350597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Young Adults lead revenue generation—target this demographic with tailored campaigns and product positioning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3667"/>
            <a:ext cx="8156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Recommendations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926074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80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Promote exclusive benefits to convert 73% non-subscribers—untapped revenue potential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1926074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38042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Reward repeat buyers to move Returning segment into Loyal—strengthen 80% base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1926074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Discounts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380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 promotional pricing with margin control—focus on high-value discount users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37710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Focus on Young Adults and express-shipping users—highest revenue demographics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37710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Highlight top-rated products (Gloves, Sandals, Boots) in campaigns—leverage quality reputation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2025-12-14T18:59:48Z</dcterms:created>
  <dcterms:modified xsi:type="dcterms:W3CDTF">2025-12-14T18:59:48Z</dcterms:modified>
</cp:coreProperties>
</file>